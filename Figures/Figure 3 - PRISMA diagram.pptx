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65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C4909F-FCAF-0F0F-BC5C-4106AB4B0752}" v="2" dt="2026-01-20T15:53:56.016"/>
    <p1510:client id="{E79D80FF-410B-4B50-A99C-5A162C9D9DF4}" v="1" dt="2026-01-20T15:54:55.4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50" d="100"/>
          <a:sy n="150" d="100"/>
        </p:scale>
        <p:origin x="108" y="-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er Martin" userId="S::alexjf.martin@mail.utoronto.ca::59648efa-cca5-4fb5-84f7-b6cea7c19abc" providerId="AD" clId="Web-{6EC4909F-FCAF-0F0F-BC5C-4106AB4B0752}"/>
    <pc:docChg chg="modSld">
      <pc:chgData name="Alexander Martin" userId="S::alexjf.martin@mail.utoronto.ca::59648efa-cca5-4fb5-84f7-b6cea7c19abc" providerId="AD" clId="Web-{6EC4909F-FCAF-0F0F-BC5C-4106AB4B0752}" dt="2026-01-20T15:53:56.016" v="1" actId="14100"/>
      <pc:docMkLst>
        <pc:docMk/>
      </pc:docMkLst>
      <pc:sldChg chg="modSp">
        <pc:chgData name="Alexander Martin" userId="S::alexjf.martin@mail.utoronto.ca::59648efa-cca5-4fb5-84f7-b6cea7c19abc" providerId="AD" clId="Web-{6EC4909F-FCAF-0F0F-BC5C-4106AB4B0752}" dt="2026-01-20T15:53:56.016" v="1" actId="14100"/>
        <pc:sldMkLst>
          <pc:docMk/>
          <pc:sldMk cId="2409271084" sldId="256"/>
        </pc:sldMkLst>
        <pc:grpChg chg="mod">
          <ac:chgData name="Alexander Martin" userId="S::alexjf.martin@mail.utoronto.ca::59648efa-cca5-4fb5-84f7-b6cea7c19abc" providerId="AD" clId="Web-{6EC4909F-FCAF-0F0F-BC5C-4106AB4B0752}" dt="2026-01-20T15:53:56.016" v="1" actId="14100"/>
          <ac:grpSpMkLst>
            <pc:docMk/>
            <pc:sldMk cId="2409271084" sldId="256"/>
            <ac:grpSpMk id="84" creationId="{7EEA255C-7B8F-C095-C2E9-C7D7FD6A8631}"/>
          </ac:grpSpMkLst>
        </pc:grpChg>
      </pc:sldChg>
    </pc:docChg>
  </pc:docChgLst>
  <pc:docChgLst>
    <pc:chgData name="Alexander Martin" userId="59648efa-cca5-4fb5-84f7-b6cea7c19abc" providerId="ADAL" clId="{2B4F998E-AE7F-4BA1-8892-D66130918C42}"/>
    <pc:docChg chg="undo redo custSel modSld">
      <pc:chgData name="Alexander Martin" userId="59648efa-cca5-4fb5-84f7-b6cea7c19abc" providerId="ADAL" clId="{2B4F998E-AE7F-4BA1-8892-D66130918C42}" dt="2026-01-20T15:57:42.255" v="395" actId="14100"/>
      <pc:docMkLst>
        <pc:docMk/>
      </pc:docMkLst>
      <pc:sldChg chg="addSp modSp mod">
        <pc:chgData name="Alexander Martin" userId="59648efa-cca5-4fb5-84f7-b6cea7c19abc" providerId="ADAL" clId="{2B4F998E-AE7F-4BA1-8892-D66130918C42}" dt="2026-01-20T15:57:42.255" v="395" actId="14100"/>
        <pc:sldMkLst>
          <pc:docMk/>
          <pc:sldMk cId="2409271084" sldId="256"/>
        </pc:sldMkLst>
        <pc:spChg chg="add mod">
          <ac:chgData name="Alexander Martin" userId="59648efa-cca5-4fb5-84f7-b6cea7c19abc" providerId="ADAL" clId="{2B4F998E-AE7F-4BA1-8892-D66130918C42}" dt="2026-01-20T15:56:25.857" v="104" actId="1076"/>
          <ac:spMkLst>
            <pc:docMk/>
            <pc:sldMk cId="2409271084" sldId="256"/>
            <ac:spMk id="2" creationId="{58D06156-8EE7-2FB1-C9E6-2E47B798B921}"/>
          </ac:spMkLst>
        </pc:spChg>
        <pc:spChg chg="mod">
          <ac:chgData name="Alexander Martin" userId="59648efa-cca5-4fb5-84f7-b6cea7c19abc" providerId="ADAL" clId="{2B4F998E-AE7F-4BA1-8892-D66130918C42}" dt="2026-01-20T15:57:42.255" v="395" actId="14100"/>
          <ac:spMkLst>
            <pc:docMk/>
            <pc:sldMk cId="2409271084" sldId="256"/>
            <ac:spMk id="8" creationId="{098EF332-5487-7D9D-E2DB-02D5C3513A28}"/>
          </ac:spMkLst>
        </pc:spChg>
        <pc:spChg chg="mod">
          <ac:chgData name="Alexander Martin" userId="59648efa-cca5-4fb5-84f7-b6cea7c19abc" providerId="ADAL" clId="{2B4F998E-AE7F-4BA1-8892-D66130918C42}" dt="2026-01-20T15:57:38.942" v="394" actId="14100"/>
          <ac:spMkLst>
            <pc:docMk/>
            <pc:sldMk cId="2409271084" sldId="256"/>
            <ac:spMk id="13" creationId="{E5A28206-A390-B191-3F74-ACE978FE8968}"/>
          </ac:spMkLst>
        </pc:spChg>
        <pc:spChg chg="mod">
          <ac:chgData name="Alexander Martin" userId="59648efa-cca5-4fb5-84f7-b6cea7c19abc" providerId="ADAL" clId="{2B4F998E-AE7F-4BA1-8892-D66130918C42}" dt="2026-01-20T15:57:23.387" v="391" actId="14100"/>
          <ac:spMkLst>
            <pc:docMk/>
            <pc:sldMk cId="2409271084" sldId="256"/>
            <ac:spMk id="14" creationId="{BFF80FF2-CB8B-5EB3-C853-36E062B0C2AF}"/>
          </ac:spMkLst>
        </pc:spChg>
        <pc:cxnChg chg="mod">
          <ac:chgData name="Alexander Martin" userId="59648efa-cca5-4fb5-84f7-b6cea7c19abc" providerId="ADAL" clId="{2B4F998E-AE7F-4BA1-8892-D66130918C42}" dt="2026-01-20T15:57:29.346" v="393" actId="14100"/>
          <ac:cxnSpMkLst>
            <pc:docMk/>
            <pc:sldMk cId="2409271084" sldId="256"/>
            <ac:cxnSpMk id="28" creationId="{91EA3CAF-8379-FAD8-0409-EEC531398C78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DD869-A273-4546-B694-CA8686847F31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B8A6-CA93-4AF9-A5C0-A95AEBB568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14003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DD869-A273-4546-B694-CA8686847F31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B8A6-CA93-4AF9-A5C0-A95AEBB568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249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DD869-A273-4546-B694-CA8686847F31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B8A6-CA93-4AF9-A5C0-A95AEBB568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3128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DD869-A273-4546-B694-CA8686847F31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B8A6-CA93-4AF9-A5C0-A95AEBB568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385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DD869-A273-4546-B694-CA8686847F31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B8A6-CA93-4AF9-A5C0-A95AEBB568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33449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DD869-A273-4546-B694-CA8686847F31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B8A6-CA93-4AF9-A5C0-A95AEBB568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4186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DD869-A273-4546-B694-CA8686847F31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B8A6-CA93-4AF9-A5C0-A95AEBB568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873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DD869-A273-4546-B694-CA8686847F31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B8A6-CA93-4AF9-A5C0-A95AEBB568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0161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DD869-A273-4546-B694-CA8686847F31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B8A6-CA93-4AF9-A5C0-A95AEBB568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8405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DD869-A273-4546-B694-CA8686847F31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B8A6-CA93-4AF9-A5C0-A95AEBB568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5552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DD869-A273-4546-B694-CA8686847F31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B8A6-CA93-4AF9-A5C0-A95AEBB568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366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3DD869-A273-4546-B694-CA8686847F31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86B8A6-CA93-4AF9-A5C0-A95AEBB568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6646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0DF8A-852E-B5E5-61AC-5119920D3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1D36891-0830-E376-0FFF-2EE67A60D17A}"/>
              </a:ext>
            </a:extLst>
          </p:cNvPr>
          <p:cNvGrpSpPr/>
          <p:nvPr/>
        </p:nvGrpSpPr>
        <p:grpSpPr>
          <a:xfrm>
            <a:off x="271199" y="673116"/>
            <a:ext cx="11649602" cy="5605196"/>
            <a:chOff x="498626" y="329742"/>
            <a:chExt cx="11649602" cy="5605196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32CED61-8E2A-E4D2-30C1-80D1EBA37853}"/>
                </a:ext>
              </a:extLst>
            </p:cNvPr>
            <p:cNvGrpSpPr/>
            <p:nvPr/>
          </p:nvGrpSpPr>
          <p:grpSpPr>
            <a:xfrm>
              <a:off x="498633" y="329742"/>
              <a:ext cx="11649593" cy="1569601"/>
              <a:chOff x="498633" y="342517"/>
              <a:chExt cx="11194733" cy="1566538"/>
            </a:xfrm>
          </p:grpSpPr>
          <p:sp>
            <p:nvSpPr>
              <p:cNvPr id="4" name="Round Same-side Corner of Rectangle 2">
                <a:extLst>
                  <a:ext uri="{FF2B5EF4-FFF2-40B4-BE49-F238E27FC236}">
                    <a16:creationId xmlns:a16="http://schemas.microsoft.com/office/drawing/2014/main" id="{B02410DD-18B7-78BF-EF9E-F43BAE66FF0C}"/>
                  </a:ext>
                </a:extLst>
              </p:cNvPr>
              <p:cNvSpPr/>
              <p:nvPr/>
            </p:nvSpPr>
            <p:spPr>
              <a:xfrm rot="5400000">
                <a:off x="5477127" y="-4307185"/>
                <a:ext cx="1566536" cy="10865943"/>
              </a:xfrm>
              <a:prstGeom prst="round2SameRect">
                <a:avLst>
                  <a:gd name="adj1" fmla="val 2108"/>
                  <a:gd name="adj2" fmla="val 0"/>
                </a:avLst>
              </a:prstGeom>
              <a:solidFill>
                <a:srgbClr val="EFF5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CA"/>
              </a:p>
            </p:txBody>
          </p:sp>
          <p:sp>
            <p:nvSpPr>
              <p:cNvPr id="5" name="Round Same-side Corner of Rectangle 6">
                <a:extLst>
                  <a:ext uri="{FF2B5EF4-FFF2-40B4-BE49-F238E27FC236}">
                    <a16:creationId xmlns:a16="http://schemas.microsoft.com/office/drawing/2014/main" id="{7DA3107E-9714-3427-85EC-D70291487B08}"/>
                  </a:ext>
                </a:extLst>
              </p:cNvPr>
              <p:cNvSpPr/>
              <p:nvPr/>
            </p:nvSpPr>
            <p:spPr>
              <a:xfrm rot="16200000">
                <a:off x="-120238" y="961388"/>
                <a:ext cx="1566537" cy="328796"/>
              </a:xfrm>
              <a:prstGeom prst="round2SameRect">
                <a:avLst>
                  <a:gd name="adj1" fmla="val 9438"/>
                  <a:gd name="adj2" fmla="val 0"/>
                </a:avLst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400" b="1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Identification</a:t>
                </a:r>
                <a:endParaRPr lang="en-CA" dirty="0">
                  <a:ea typeface="Calibri" panose="020F0502020204030204" pitchFamily="34" charset="0"/>
                </a:endParaRPr>
              </a:p>
            </p:txBody>
          </p:sp>
        </p:grpSp>
        <p:sp>
          <p:nvSpPr>
            <p:cNvPr id="8" name="Round Same-side Corner of Rectangle 19">
              <a:extLst>
                <a:ext uri="{FF2B5EF4-FFF2-40B4-BE49-F238E27FC236}">
                  <a16:creationId xmlns:a16="http://schemas.microsoft.com/office/drawing/2014/main" id="{FAA90BA8-BDA2-FC71-1CBD-931273EF8429}"/>
                </a:ext>
              </a:extLst>
            </p:cNvPr>
            <p:cNvSpPr/>
            <p:nvPr/>
          </p:nvSpPr>
          <p:spPr>
            <a:xfrm rot="16200000">
              <a:off x="145200" y="5252691"/>
              <a:ext cx="1035660" cy="328805"/>
            </a:xfrm>
            <a:prstGeom prst="round2Same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US" sz="14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Included</a:t>
              </a:r>
              <a:endParaRPr lang="en-C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EDE05A6A-EDF9-19C7-4B9E-D78114DAD217}"/>
                </a:ext>
              </a:extLst>
            </p:cNvPr>
            <p:cNvGrpSpPr/>
            <p:nvPr/>
          </p:nvGrpSpPr>
          <p:grpSpPr>
            <a:xfrm>
              <a:off x="498626" y="2207566"/>
              <a:ext cx="11649600" cy="2383485"/>
              <a:chOff x="498626" y="2207566"/>
              <a:chExt cx="11194742" cy="2383485"/>
            </a:xfrm>
          </p:grpSpPr>
          <p:sp>
            <p:nvSpPr>
              <p:cNvPr id="11" name="Round Same-side Corner of Rectangle 1">
                <a:extLst>
                  <a:ext uri="{FF2B5EF4-FFF2-40B4-BE49-F238E27FC236}">
                    <a16:creationId xmlns:a16="http://schemas.microsoft.com/office/drawing/2014/main" id="{BD04218C-27E5-EB8B-69E6-A5DF56828F76}"/>
                  </a:ext>
                </a:extLst>
              </p:cNvPr>
              <p:cNvSpPr/>
              <p:nvPr/>
            </p:nvSpPr>
            <p:spPr>
              <a:xfrm rot="16200000">
                <a:off x="-528715" y="3234907"/>
                <a:ext cx="2383485" cy="328804"/>
              </a:xfrm>
              <a:prstGeom prst="round2Same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400" b="1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Screening</a:t>
                </a:r>
                <a:endParaRPr lang="en-CA" dirty="0">
                  <a:ea typeface="Calibri" panose="020F0502020204030204" pitchFamily="34" charset="0"/>
                </a:endParaRPr>
              </a:p>
            </p:txBody>
          </p:sp>
          <p:sp>
            <p:nvSpPr>
              <p:cNvPr id="12" name="Round Same-side Corner of Rectangle 2">
                <a:extLst>
                  <a:ext uri="{FF2B5EF4-FFF2-40B4-BE49-F238E27FC236}">
                    <a16:creationId xmlns:a16="http://schemas.microsoft.com/office/drawing/2014/main" id="{51D12FC7-0407-482A-A71D-C51CC4185059}"/>
                  </a:ext>
                </a:extLst>
              </p:cNvPr>
              <p:cNvSpPr/>
              <p:nvPr/>
            </p:nvSpPr>
            <p:spPr>
              <a:xfrm rot="5400000">
                <a:off x="5068654" y="-2033663"/>
                <a:ext cx="2383484" cy="10865944"/>
              </a:xfrm>
              <a:prstGeom prst="round2SameRect">
                <a:avLst>
                  <a:gd name="adj1" fmla="val 2108"/>
                  <a:gd name="adj2" fmla="val 0"/>
                </a:avLst>
              </a:prstGeom>
              <a:solidFill>
                <a:srgbClr val="EFF5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CA"/>
              </a:p>
            </p:txBody>
          </p:sp>
        </p:grpSp>
        <p:sp>
          <p:nvSpPr>
            <p:cNvPr id="13" name="Round Same-side Corner of Rectangle 2">
              <a:extLst>
                <a:ext uri="{FF2B5EF4-FFF2-40B4-BE49-F238E27FC236}">
                  <a16:creationId xmlns:a16="http://schemas.microsoft.com/office/drawing/2014/main" id="{DA2E06F1-22AA-92EA-D50C-436B56C6976A}"/>
                </a:ext>
              </a:extLst>
            </p:cNvPr>
            <p:cNvSpPr/>
            <p:nvPr/>
          </p:nvSpPr>
          <p:spPr>
            <a:xfrm rot="5400000">
              <a:off x="5969995" y="-243295"/>
              <a:ext cx="1035660" cy="11320806"/>
            </a:xfrm>
            <a:prstGeom prst="round2SameRect">
              <a:avLst>
                <a:gd name="adj1" fmla="val 2108"/>
                <a:gd name="adj2" fmla="val 0"/>
              </a:avLst>
            </a:prstGeom>
            <a:solidFill>
              <a:srgbClr val="EFF5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CA"/>
            </a:p>
          </p:txBody>
        </p:sp>
        <p:sp>
          <p:nvSpPr>
            <p:cNvPr id="14" name="Rounded Rectangle 18">
              <a:extLst>
                <a:ext uri="{FF2B5EF4-FFF2-40B4-BE49-F238E27FC236}">
                  <a16:creationId xmlns:a16="http://schemas.microsoft.com/office/drawing/2014/main" id="{27FF0A1F-1F7D-186F-FF6E-ABA936EF4CFD}"/>
                </a:ext>
              </a:extLst>
            </p:cNvPr>
            <p:cNvSpPr/>
            <p:nvPr/>
          </p:nvSpPr>
          <p:spPr>
            <a:xfrm>
              <a:off x="1062547" y="5117138"/>
              <a:ext cx="9049504" cy="599940"/>
            </a:xfrm>
            <a:prstGeom prst="roundRect">
              <a:avLst>
                <a:gd name="adj" fmla="val 5162"/>
              </a:avLst>
            </a:prstGeom>
            <a:solidFill>
              <a:schemeClr val="bg1"/>
            </a:solidFill>
            <a:ln w="28575">
              <a:solidFill>
                <a:srgbClr val="4C65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buNone/>
              </a:pPr>
              <a:r>
                <a:rPr lang="en-AU" sz="1400" dirty="0">
                  <a:solidFill>
                    <a:srgbClr val="000000"/>
                  </a:solidFill>
                  <a:latin typeface="Times New Roman"/>
                  <a:ea typeface="Calibri"/>
                  <a:cs typeface="Times New Roman"/>
                </a:rPr>
                <a:t>Studies included in the review </a:t>
              </a:r>
              <a:r>
                <a:rPr lang="en-AU" sz="1400" b="1" dirty="0">
                  <a:solidFill>
                    <a:srgbClr val="0040CF"/>
                  </a:solidFill>
                  <a:latin typeface="Times New Roman"/>
                  <a:ea typeface="Calibri"/>
                  <a:cs typeface="Times New Roman"/>
                </a:rPr>
                <a:t>(n = 257)</a:t>
              </a:r>
              <a:endParaRPr lang="en-CA" sz="1400" dirty="0">
                <a:latin typeface="Times New Roman"/>
                <a:ea typeface="Calibri"/>
                <a:cs typeface="Times New Roman"/>
              </a:endParaRPr>
            </a:p>
            <a:p>
              <a:pPr indent="179705"/>
              <a:r>
                <a:rPr lang="en-AU" sz="1200" dirty="0">
                  <a:solidFill>
                    <a:srgbClr val="000000"/>
                  </a:solidFill>
                  <a:latin typeface="Times New Roman"/>
                  <a:ea typeface="Calibri"/>
                  <a:cs typeface="Times New Roman"/>
                </a:rPr>
                <a:t>Included in full synthesis (includes independent Indigenous Peoples Census variable) (n = 15)</a:t>
              </a:r>
              <a:endParaRPr lang="en-CA" sz="1200" dirty="0">
                <a:latin typeface="Times New Roman"/>
                <a:ea typeface="Calibri"/>
                <a:cs typeface="Times New Roman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0C0724B-8574-22C8-DF7A-12B63E2AA023}"/>
                </a:ext>
              </a:extLst>
            </p:cNvPr>
            <p:cNvCxnSpPr>
              <a:cxnSpLocks/>
              <a:stCxn id="6" idx="2"/>
              <a:endCxn id="17" idx="0"/>
            </p:cNvCxnSpPr>
            <p:nvPr/>
          </p:nvCxnSpPr>
          <p:spPr>
            <a:xfrm flipH="1">
              <a:off x="3335917" y="1689102"/>
              <a:ext cx="2" cy="736335"/>
            </a:xfrm>
            <a:prstGeom prst="straightConnector1">
              <a:avLst/>
            </a:prstGeom>
            <a:ln w="28575" cap="flat" cmpd="sng" algn="ctr">
              <a:solidFill>
                <a:srgbClr val="4C658A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3FD2C89F-61BE-D87F-4C59-93F24615271A}"/>
                </a:ext>
              </a:extLst>
            </p:cNvPr>
            <p:cNvCxnSpPr>
              <a:cxnSpLocks/>
              <a:stCxn id="17" idx="2"/>
              <a:endCxn id="16" idx="0"/>
            </p:cNvCxnSpPr>
            <p:nvPr/>
          </p:nvCxnSpPr>
          <p:spPr>
            <a:xfrm>
              <a:off x="3335917" y="2804884"/>
              <a:ext cx="0" cy="676045"/>
            </a:xfrm>
            <a:prstGeom prst="straightConnector1">
              <a:avLst/>
            </a:prstGeom>
            <a:ln w="28575" cap="flat" cmpd="sng" algn="ctr">
              <a:solidFill>
                <a:srgbClr val="4C658A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1E96B2D8-1938-AFBB-DC5A-F2146E46A3F3}"/>
                </a:ext>
              </a:extLst>
            </p:cNvPr>
            <p:cNvCxnSpPr>
              <a:cxnSpLocks/>
              <a:stCxn id="16" idx="2"/>
            </p:cNvCxnSpPr>
            <p:nvPr/>
          </p:nvCxnSpPr>
          <p:spPr>
            <a:xfrm>
              <a:off x="3335917" y="3860831"/>
              <a:ext cx="0" cy="1252151"/>
            </a:xfrm>
            <a:prstGeom prst="straightConnector1">
              <a:avLst/>
            </a:prstGeom>
            <a:ln w="28575" cap="flat" cmpd="sng" algn="ctr">
              <a:solidFill>
                <a:srgbClr val="4C658A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A82DA813-B61C-CE80-321D-074E3761DD8C}"/>
                </a:ext>
              </a:extLst>
            </p:cNvPr>
            <p:cNvGrpSpPr/>
            <p:nvPr/>
          </p:nvGrpSpPr>
          <p:grpSpPr>
            <a:xfrm>
              <a:off x="1062550" y="548212"/>
              <a:ext cx="8572480" cy="1140890"/>
              <a:chOff x="1062550" y="548212"/>
              <a:chExt cx="8572480" cy="1140890"/>
            </a:xfrm>
          </p:grpSpPr>
          <p:sp>
            <p:nvSpPr>
              <p:cNvPr id="6" name="Rounded Rectangle 3">
                <a:extLst>
                  <a:ext uri="{FF2B5EF4-FFF2-40B4-BE49-F238E27FC236}">
                    <a16:creationId xmlns:a16="http://schemas.microsoft.com/office/drawing/2014/main" id="{80B8DEC4-DA40-68BC-2399-64DF41D19F11}"/>
                  </a:ext>
                </a:extLst>
              </p:cNvPr>
              <p:cNvSpPr/>
              <p:nvPr/>
            </p:nvSpPr>
            <p:spPr>
              <a:xfrm>
                <a:off x="1062550" y="548212"/>
                <a:ext cx="4546738" cy="1140890"/>
              </a:xfrm>
              <a:prstGeom prst="roundRect">
                <a:avLst>
                  <a:gd name="adj" fmla="val 1602"/>
                </a:avLst>
              </a:prstGeom>
              <a:solidFill>
                <a:schemeClr val="bg1"/>
              </a:solidFill>
              <a:ln w="28575">
                <a:solidFill>
                  <a:srgbClr val="4C65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buNone/>
                </a:pPr>
                <a:r>
                  <a:rPr lang="en-AU" sz="1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Studies from databases </a:t>
                </a:r>
                <a:r>
                  <a:rPr lang="en-AU" sz="1400" b="1" dirty="0">
                    <a:solidFill>
                      <a:srgbClr val="0040CF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(n = 12,146)</a:t>
                </a:r>
                <a:endParaRPr lang="en-CA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180325"/>
                <a:r>
                  <a:rPr lang="en-AU" sz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Scopus (n = 5,832)</a:t>
                </a:r>
                <a:endParaRPr lang="en-CA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180325"/>
                <a:r>
                  <a:rPr lang="en-AU" sz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Web of Science (n = 5,076)</a:t>
                </a:r>
              </a:p>
              <a:p>
                <a:pPr indent="180325"/>
                <a:r>
                  <a:rPr lang="en-AU" sz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PubMed (n = 656)</a:t>
                </a:r>
                <a:endParaRPr lang="en-CA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180325"/>
                <a:r>
                  <a:rPr lang="en-AU" sz="12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EBSCO Host (n = 582)</a:t>
                </a:r>
                <a:endParaRPr lang="en-CA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" name="Rounded Rectangle 14">
                <a:extLst>
                  <a:ext uri="{FF2B5EF4-FFF2-40B4-BE49-F238E27FC236}">
                    <a16:creationId xmlns:a16="http://schemas.microsoft.com/office/drawing/2014/main" id="{BB58ED3B-0EA9-BC67-6ABF-745C505E05F6}"/>
                  </a:ext>
                </a:extLst>
              </p:cNvPr>
              <p:cNvSpPr/>
              <p:nvPr/>
            </p:nvSpPr>
            <p:spPr>
              <a:xfrm>
                <a:off x="5992153" y="763403"/>
                <a:ext cx="3642877" cy="710507"/>
              </a:xfrm>
              <a:prstGeom prst="roundRect">
                <a:avLst>
                  <a:gd name="adj" fmla="val 2022"/>
                </a:avLst>
              </a:prstGeom>
              <a:solidFill>
                <a:schemeClr val="bg1"/>
              </a:solidFill>
              <a:ln w="28575">
                <a:solidFill>
                  <a:srgbClr val="4C65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buNone/>
                </a:pPr>
                <a:r>
                  <a:rPr lang="en-AU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Duplicate references removed </a:t>
                </a:r>
                <a:r>
                  <a:rPr lang="en-AU" sz="1400" b="1" dirty="0">
                    <a:solidFill>
                      <a:srgbClr val="0040CF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(n = 4,657)  </a:t>
                </a:r>
                <a:endParaRPr lang="en-CA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180325">
                  <a:lnSpc>
                    <a:spcPct val="107000"/>
                  </a:lnSpc>
                </a:pPr>
                <a:r>
                  <a:rPr lang="en-AU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Duplicates identified by Covidence (n = 4,583) </a:t>
                </a:r>
                <a:endParaRPr lang="en-CA" dirty="0">
                  <a:solidFill>
                    <a:schemeClr val="tx1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180325">
                  <a:lnSpc>
                    <a:spcPct val="107000"/>
                  </a:lnSpc>
                </a:pPr>
                <a:r>
                  <a:rPr lang="en-AU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Duplicates identified manually (n = 74)</a:t>
                </a:r>
                <a:endParaRPr lang="en-CA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0C98DEA9-1D45-E079-1D03-82BC76AC45E3}"/>
                  </a:ext>
                </a:extLst>
              </p:cNvPr>
              <p:cNvCxnSpPr>
                <a:cxnSpLocks/>
                <a:stCxn id="6" idx="3"/>
                <a:endCxn id="7" idx="1"/>
              </p:cNvCxnSpPr>
              <p:nvPr/>
            </p:nvCxnSpPr>
            <p:spPr>
              <a:xfrm>
                <a:off x="5609288" y="1118657"/>
                <a:ext cx="382865" cy="0"/>
              </a:xfrm>
              <a:prstGeom prst="straightConnector1">
                <a:avLst/>
              </a:prstGeom>
              <a:ln w="28575" cap="flat" cmpd="sng" algn="ctr">
                <a:solidFill>
                  <a:srgbClr val="4C658A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F4424093-3BBE-3BFA-8873-57C4424FD503}"/>
                </a:ext>
              </a:extLst>
            </p:cNvPr>
            <p:cNvGrpSpPr/>
            <p:nvPr/>
          </p:nvGrpSpPr>
          <p:grpSpPr>
            <a:xfrm>
              <a:off x="1062547" y="2425437"/>
              <a:ext cx="8241607" cy="379447"/>
              <a:chOff x="1062549" y="2428359"/>
              <a:chExt cx="8241607" cy="379447"/>
            </a:xfrm>
          </p:grpSpPr>
          <p:sp>
            <p:nvSpPr>
              <p:cNvPr id="17" name="Rounded Rectangle 11">
                <a:extLst>
                  <a:ext uri="{FF2B5EF4-FFF2-40B4-BE49-F238E27FC236}">
                    <a16:creationId xmlns:a16="http://schemas.microsoft.com/office/drawing/2014/main" id="{4D98EB05-CC02-8A63-5EA0-05EEC6345C7D}"/>
                  </a:ext>
                </a:extLst>
              </p:cNvPr>
              <p:cNvSpPr/>
              <p:nvPr/>
            </p:nvSpPr>
            <p:spPr>
              <a:xfrm>
                <a:off x="1062549" y="2428359"/>
                <a:ext cx="4546740" cy="379447"/>
              </a:xfrm>
              <a:prstGeom prst="roundRect">
                <a:avLst>
                  <a:gd name="adj" fmla="val 5134"/>
                </a:avLst>
              </a:prstGeom>
              <a:solidFill>
                <a:schemeClr val="bg1"/>
              </a:solidFill>
              <a:ln w="28575">
                <a:solidFill>
                  <a:srgbClr val="4C65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AU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Studies screened against title and abstract </a:t>
                </a:r>
                <a:r>
                  <a:rPr lang="en-AU" sz="1400" b="1" dirty="0">
                    <a:solidFill>
                      <a:srgbClr val="0040CF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(n = 7,489)</a:t>
                </a:r>
                <a:endParaRPr lang="en-CA" dirty="0">
                  <a:ea typeface="Calibri" panose="020F0502020204030204" pitchFamily="34" charset="0"/>
                </a:endParaRPr>
              </a:p>
            </p:txBody>
          </p:sp>
          <p:sp>
            <p:nvSpPr>
              <p:cNvPr id="18" name="Rounded Rectangle 15">
                <a:extLst>
                  <a:ext uri="{FF2B5EF4-FFF2-40B4-BE49-F238E27FC236}">
                    <a16:creationId xmlns:a16="http://schemas.microsoft.com/office/drawing/2014/main" id="{5EB3BB9A-7DC1-E226-C864-82326E456477}"/>
                  </a:ext>
                </a:extLst>
              </p:cNvPr>
              <p:cNvSpPr/>
              <p:nvPr/>
            </p:nvSpPr>
            <p:spPr>
              <a:xfrm>
                <a:off x="5992153" y="2428359"/>
                <a:ext cx="3312003" cy="379447"/>
              </a:xfrm>
              <a:prstGeom prst="roundRect">
                <a:avLst>
                  <a:gd name="adj" fmla="val 5134"/>
                </a:avLst>
              </a:prstGeom>
              <a:solidFill>
                <a:schemeClr val="bg1"/>
              </a:solidFill>
              <a:ln w="28575">
                <a:solidFill>
                  <a:srgbClr val="4C65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AU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Studies excluded </a:t>
                </a:r>
                <a:r>
                  <a:rPr lang="en-AU" sz="1400" b="1" dirty="0">
                    <a:solidFill>
                      <a:srgbClr val="0040CF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(n = 6,860)</a:t>
                </a:r>
                <a:endParaRPr lang="en-CA" dirty="0">
                  <a:ea typeface="Calibri" panose="020F0502020204030204" pitchFamily="34" charset="0"/>
                </a:endParaRPr>
              </a:p>
            </p:txBody>
          </p: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98EC1F5-81DA-0226-285D-D11FB6C2D719}"/>
                  </a:ext>
                </a:extLst>
              </p:cNvPr>
              <p:cNvCxnSpPr>
                <a:cxnSpLocks/>
                <a:stCxn id="17" idx="3"/>
                <a:endCxn id="18" idx="1"/>
              </p:cNvCxnSpPr>
              <p:nvPr/>
            </p:nvCxnSpPr>
            <p:spPr>
              <a:xfrm>
                <a:off x="5609289" y="2618084"/>
                <a:ext cx="382865" cy="0"/>
              </a:xfrm>
              <a:prstGeom prst="straightConnector1">
                <a:avLst/>
              </a:prstGeom>
              <a:ln w="28575" cap="flat" cmpd="sng" algn="ctr">
                <a:solidFill>
                  <a:srgbClr val="4C658A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9580D1A5-E161-3D99-0161-0E82484A60A8}"/>
                </a:ext>
              </a:extLst>
            </p:cNvPr>
            <p:cNvGrpSpPr/>
            <p:nvPr/>
          </p:nvGrpSpPr>
          <p:grpSpPr>
            <a:xfrm>
              <a:off x="1062547" y="2973946"/>
              <a:ext cx="10865938" cy="1393868"/>
              <a:chOff x="1062547" y="2973946"/>
              <a:chExt cx="10865938" cy="1393868"/>
            </a:xfrm>
          </p:grpSpPr>
          <p:sp>
            <p:nvSpPr>
              <p:cNvPr id="15" name="Rounded Rectangle 17">
                <a:extLst>
                  <a:ext uri="{FF2B5EF4-FFF2-40B4-BE49-F238E27FC236}">
                    <a16:creationId xmlns:a16="http://schemas.microsoft.com/office/drawing/2014/main" id="{19BD1F0C-1267-66C8-6DFB-41649141F59C}"/>
                  </a:ext>
                </a:extLst>
              </p:cNvPr>
              <p:cNvSpPr/>
              <p:nvPr/>
            </p:nvSpPr>
            <p:spPr>
              <a:xfrm>
                <a:off x="5992153" y="2973946"/>
                <a:ext cx="5936332" cy="1393868"/>
              </a:xfrm>
              <a:prstGeom prst="roundRect">
                <a:avLst>
                  <a:gd name="adj" fmla="val 1763"/>
                </a:avLst>
              </a:prstGeom>
              <a:solidFill>
                <a:schemeClr val="bg1"/>
              </a:solidFill>
              <a:ln w="28575">
                <a:solidFill>
                  <a:srgbClr val="4C65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buNone/>
                </a:pPr>
                <a:r>
                  <a:rPr lang="en-AU" sz="1400" dirty="0">
                    <a:solidFill>
                      <a:schemeClr val="tx1"/>
                    </a:solidFill>
                    <a:latin typeface="Times New Roman"/>
                    <a:ea typeface="Calibri"/>
                    <a:cs typeface="Times New Roman"/>
                  </a:rPr>
                  <a:t>Ineligible studies </a:t>
                </a:r>
                <a:r>
                  <a:rPr lang="en-AU" sz="1400" b="1" dirty="0">
                    <a:solidFill>
                      <a:srgbClr val="0040CF"/>
                    </a:solidFill>
                    <a:latin typeface="Times New Roman"/>
                    <a:ea typeface="Calibri"/>
                    <a:cs typeface="Times New Roman"/>
                  </a:rPr>
                  <a:t>(n = 372)  </a:t>
                </a:r>
                <a:endParaRPr lang="en-CA" dirty="0">
                  <a:latin typeface="Times New Roman"/>
                  <a:ea typeface="Calibri"/>
                  <a:cs typeface="Times New Roman"/>
                </a:endParaRPr>
              </a:p>
              <a:p>
                <a:pPr marL="50796" indent="129529">
                  <a:lnSpc>
                    <a:spcPct val="107000"/>
                  </a:lnSpc>
                </a:pPr>
                <a:r>
                  <a:rPr lang="en-AU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1. Review papers, meta-analyses, and editorials / commentaries (n = 24)</a:t>
                </a:r>
                <a:endParaRPr lang="en-CA" dirty="0">
                  <a:solidFill>
                    <a:schemeClr val="tx1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50796" indent="129529">
                  <a:lnSpc>
                    <a:spcPct val="107000"/>
                  </a:lnSpc>
                </a:pPr>
                <a:r>
                  <a:rPr lang="en-AU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2. Wrong study location (outside Canada or US</a:t>
                </a:r>
                <a:r>
                  <a:rPr lang="en-CA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 (n = 37)</a:t>
                </a:r>
                <a:endParaRPr lang="en-CA" dirty="0">
                  <a:solidFill>
                    <a:schemeClr val="tx1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50796" indent="129529">
                  <a:lnSpc>
                    <a:spcPct val="107000"/>
                  </a:lnSpc>
                </a:pPr>
                <a:r>
                  <a:rPr lang="en-AU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3. Wrong study design (survey- or cohort-based, not distributional equity-based) (n = 189)</a:t>
                </a:r>
                <a:endParaRPr lang="en-CA" dirty="0">
                  <a:solidFill>
                    <a:schemeClr val="tx1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50796" indent="129529">
                  <a:lnSpc>
                    <a:spcPct val="107000"/>
                  </a:lnSpc>
                </a:pPr>
                <a:r>
                  <a:rPr lang="en-AU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4. Wrong outcome variable (not urban greening-related) (n = 62)</a:t>
                </a:r>
              </a:p>
              <a:p>
                <a:pPr marL="50796" indent="129529">
                  <a:lnSpc>
                    <a:spcPct val="107000"/>
                  </a:lnSpc>
                </a:pPr>
                <a:r>
                  <a:rPr lang="en-AU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5. Wrong data source (does not use Census for socio-demographic variables) (n = 60)</a:t>
                </a:r>
                <a:endParaRPr lang="en-CA" dirty="0">
                  <a:solidFill>
                    <a:schemeClr val="tx1"/>
                  </a:solidFill>
                  <a:latin typeface="Times New Roman"/>
                  <a:ea typeface="Calibri"/>
                  <a:cs typeface="Times New Roman"/>
                </a:endParaRPr>
              </a:p>
            </p:txBody>
          </p:sp>
          <p:sp>
            <p:nvSpPr>
              <p:cNvPr id="16" name="Rounded Rectangle 13">
                <a:extLst>
                  <a:ext uri="{FF2B5EF4-FFF2-40B4-BE49-F238E27FC236}">
                    <a16:creationId xmlns:a16="http://schemas.microsoft.com/office/drawing/2014/main" id="{B80414DE-8791-A6BF-0738-CAAA49A8F33F}"/>
                  </a:ext>
                </a:extLst>
              </p:cNvPr>
              <p:cNvSpPr/>
              <p:nvPr/>
            </p:nvSpPr>
            <p:spPr>
              <a:xfrm>
                <a:off x="1062547" y="3480929"/>
                <a:ext cx="4546740" cy="379902"/>
              </a:xfrm>
              <a:prstGeom prst="roundRect">
                <a:avLst>
                  <a:gd name="adj" fmla="val 4572"/>
                </a:avLst>
              </a:prstGeom>
              <a:solidFill>
                <a:schemeClr val="bg1"/>
              </a:solidFill>
              <a:ln w="28575">
                <a:solidFill>
                  <a:srgbClr val="4C65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AU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Studies assessed for eligibility using full text </a:t>
                </a:r>
                <a:r>
                  <a:rPr lang="en-AU" sz="1400" b="1" dirty="0">
                    <a:solidFill>
                      <a:srgbClr val="0040CF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(n = 629)    </a:t>
                </a:r>
                <a:endParaRPr lang="en-CA" dirty="0">
                  <a:ea typeface="Calibri" panose="020F0502020204030204" pitchFamily="34" charset="0"/>
                </a:endParaRPr>
              </a:p>
            </p:txBody>
          </p: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9F1A102B-53F8-3F1E-CD40-4AB8DC463E1A}"/>
                  </a:ext>
                </a:extLst>
              </p:cNvPr>
              <p:cNvCxnSpPr>
                <a:cxnSpLocks/>
                <a:stCxn id="16" idx="3"/>
                <a:endCxn id="15" idx="1"/>
              </p:cNvCxnSpPr>
              <p:nvPr/>
            </p:nvCxnSpPr>
            <p:spPr>
              <a:xfrm>
                <a:off x="5609287" y="3670880"/>
                <a:ext cx="382866" cy="0"/>
              </a:xfrm>
              <a:prstGeom prst="straightConnector1">
                <a:avLst/>
              </a:prstGeom>
              <a:ln w="28575" cap="flat" cmpd="sng" algn="ctr">
                <a:solidFill>
                  <a:srgbClr val="4C658A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981252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1DB5263F00C449B8A708805E65BE66" ma:contentTypeVersion="18" ma:contentTypeDescription="Create a new document." ma:contentTypeScope="" ma:versionID="1cda5b341b95d56ebae539493e098e07">
  <xsd:schema xmlns:xsd="http://www.w3.org/2001/XMLSchema" xmlns:xs="http://www.w3.org/2001/XMLSchema" xmlns:p="http://schemas.microsoft.com/office/2006/metadata/properties" xmlns:ns2="a5523d91-1ca4-4b1b-9e17-16577f9dbff6" xmlns:ns3="d8143e93-dea8-4371-96bb-4375bfaabac4" targetNamespace="http://schemas.microsoft.com/office/2006/metadata/properties" ma:root="true" ma:fieldsID="4a703e4ebe8795b2d1f91c2613e5f58e" ns2:_="" ns3:_="">
    <xsd:import namespace="a5523d91-1ca4-4b1b-9e17-16577f9dbff6"/>
    <xsd:import namespace="d8143e93-dea8-4371-96bb-4375bfaabac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Location" minOccurs="0"/>
                <xsd:element ref="ns3:MediaServiceObjectDetectorVersions" minOccurs="0"/>
                <xsd:element ref="ns3:MediaLengthInSecond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523d91-1ca4-4b1b-9e17-16577f9dbff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6e97f5d-42b0-46b5-b9f9-490160c0ddf3}" ma:internalName="TaxCatchAll" ma:showField="CatchAllData" ma:web="a5523d91-1ca4-4b1b-9e17-16577f9dbf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43e93-dea8-4371-96bb-4375bfaaba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e164b29-4069-4387-b6aa-f01f2a1f474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5523d91-1ca4-4b1b-9e17-16577f9dbff6" xsi:nil="true"/>
    <lcf76f155ced4ddcb4097134ff3c332f xmlns="d8143e93-dea8-4371-96bb-4375bfaabac4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4B26E6E-0557-4610-B756-C3A08AB007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5523d91-1ca4-4b1b-9e17-16577f9dbff6"/>
    <ds:schemaRef ds:uri="d8143e93-dea8-4371-96bb-4375bfaabac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59365CC-1927-4477-8049-95175B60F2BD}">
  <ds:schemaRefs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d8143e93-dea8-4371-96bb-4375bfaabac4"/>
    <ds:schemaRef ds:uri="a5523d91-1ca4-4b1b-9e17-16577f9dbff6"/>
    <ds:schemaRef ds:uri="http://schemas.microsoft.com/office/2006/metadata/properties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A38EE1BA-BABD-4E6A-AD5A-FD9201FDA82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</TotalTime>
  <Words>212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Martin</dc:creator>
  <cp:lastModifiedBy>Alexander Martin</cp:lastModifiedBy>
  <cp:revision>12</cp:revision>
  <dcterms:created xsi:type="dcterms:W3CDTF">2025-10-22T12:46:57Z</dcterms:created>
  <dcterms:modified xsi:type="dcterms:W3CDTF">2026-02-04T15:58:49Z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0x010100581DB5263F00C449B8A708805E65BE66</vt:lpwstr>
  </property>
  <property fmtid="{D5CDD505-2E9C-101B-9397-08002B2CF9AE}" pid="3" name="MediaServiceImageTags">
    <vt:lpwstr/>
  </property>
</Properties>
</file>