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8000663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E6FF"/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0609" autoAdjust="0"/>
    <p:restoredTop sz="94660"/>
  </p:normalViewPr>
  <p:slideViewPr>
    <p:cSldViewPr snapToGrid="0">
      <p:cViewPr varScale="1">
        <p:scale>
          <a:sx n="35" d="100"/>
          <a:sy n="35" d="100"/>
        </p:scale>
        <p:origin x="62" y="7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296173"/>
            <a:ext cx="13500497" cy="2757347"/>
          </a:xfrm>
        </p:spPr>
        <p:txBody>
          <a:bodyPr anchor="b"/>
          <a:lstStyle>
            <a:lvl1pPr algn="ctr"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4159854"/>
            <a:ext cx="13500497" cy="1912175"/>
          </a:xfrm>
        </p:spPr>
        <p:txBody>
          <a:bodyPr/>
          <a:lstStyle>
            <a:lvl1pPr marL="0" indent="0" algn="ctr">
              <a:buNone/>
              <a:defRPr sz="2772"/>
            </a:lvl1pPr>
            <a:lvl2pPr marL="528020" indent="0" algn="ctr">
              <a:buNone/>
              <a:defRPr sz="2310"/>
            </a:lvl2pPr>
            <a:lvl3pPr marL="1056041" indent="0" algn="ctr">
              <a:buNone/>
              <a:defRPr sz="2079"/>
            </a:lvl3pPr>
            <a:lvl4pPr marL="1584061" indent="0" algn="ctr">
              <a:buNone/>
              <a:defRPr sz="1848"/>
            </a:lvl4pPr>
            <a:lvl5pPr marL="2112081" indent="0" algn="ctr">
              <a:buNone/>
              <a:defRPr sz="1848"/>
            </a:lvl5pPr>
            <a:lvl6pPr marL="2640101" indent="0" algn="ctr">
              <a:buNone/>
              <a:defRPr sz="1848"/>
            </a:lvl6pPr>
            <a:lvl7pPr marL="3168122" indent="0" algn="ctr">
              <a:buNone/>
              <a:defRPr sz="1848"/>
            </a:lvl7pPr>
            <a:lvl8pPr marL="3696142" indent="0" algn="ctr">
              <a:buNone/>
              <a:defRPr sz="1848"/>
            </a:lvl8pPr>
            <a:lvl9pPr marL="4224162" indent="0" algn="ctr">
              <a:buNone/>
              <a:defRPr sz="18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149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2532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974511"/>
            <a:ext cx="15525572" cy="3294515"/>
          </a:xfrm>
        </p:spPr>
        <p:txBody>
          <a:bodyPr anchor="b"/>
          <a:lstStyle>
            <a:lvl1pPr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5300193"/>
            <a:ext cx="15525572" cy="1732508"/>
          </a:xfrm>
        </p:spPr>
        <p:txBody>
          <a:bodyPr/>
          <a:lstStyle>
            <a:lvl1pPr marL="0" indent="0">
              <a:buNone/>
              <a:defRPr sz="2772">
                <a:solidFill>
                  <a:schemeClr val="tx1">
                    <a:tint val="82000"/>
                  </a:schemeClr>
                </a:solidFill>
              </a:defRPr>
            </a:lvl1pPr>
            <a:lvl2pPr marL="528020" indent="0">
              <a:buNone/>
              <a:defRPr sz="2310">
                <a:solidFill>
                  <a:schemeClr val="tx1">
                    <a:tint val="82000"/>
                  </a:schemeClr>
                </a:solidFill>
              </a:defRPr>
            </a:lvl2pPr>
            <a:lvl3pPr marL="1056041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3pPr>
            <a:lvl4pPr marL="1584061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4pPr>
            <a:lvl5pPr marL="2112081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5pPr>
            <a:lvl6pPr marL="2640101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6pPr>
            <a:lvl7pPr marL="3168122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7pPr>
            <a:lvl8pPr marL="3696142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8pPr>
            <a:lvl9pPr marL="4224162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9727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108344"/>
            <a:ext cx="7650282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108344"/>
            <a:ext cx="7650282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3728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421669"/>
            <a:ext cx="15525572" cy="15308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941510"/>
            <a:ext cx="7615123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893014"/>
            <a:ext cx="7615123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941510"/>
            <a:ext cx="7652626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893014"/>
            <a:ext cx="7652626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945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4505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3475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528002"/>
            <a:ext cx="5805682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140340"/>
            <a:ext cx="9112836" cy="5628360"/>
          </a:xfrm>
        </p:spPr>
        <p:txBody>
          <a:bodyPr/>
          <a:lstStyle>
            <a:lvl1pPr>
              <a:defRPr sz="3696"/>
            </a:lvl1pPr>
            <a:lvl2pPr>
              <a:defRPr sz="3234"/>
            </a:lvl2pPr>
            <a:lvl3pPr>
              <a:defRPr sz="2772"/>
            </a:lvl3pPr>
            <a:lvl4pPr>
              <a:defRPr sz="2310"/>
            </a:lvl4pPr>
            <a:lvl5pPr>
              <a:defRPr sz="2310"/>
            </a:lvl5pPr>
            <a:lvl6pPr>
              <a:defRPr sz="2310"/>
            </a:lvl6pPr>
            <a:lvl7pPr>
              <a:defRPr sz="2310"/>
            </a:lvl7pPr>
            <a:lvl8pPr>
              <a:defRPr sz="2310"/>
            </a:lvl8pPr>
            <a:lvl9pPr>
              <a:defRPr sz="23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376011"/>
            <a:ext cx="5805682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7447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528002"/>
            <a:ext cx="5805682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140340"/>
            <a:ext cx="9112836" cy="5628360"/>
          </a:xfrm>
        </p:spPr>
        <p:txBody>
          <a:bodyPr anchor="t"/>
          <a:lstStyle>
            <a:lvl1pPr marL="0" indent="0">
              <a:buNone/>
              <a:defRPr sz="3696"/>
            </a:lvl1pPr>
            <a:lvl2pPr marL="528020" indent="0">
              <a:buNone/>
              <a:defRPr sz="3234"/>
            </a:lvl2pPr>
            <a:lvl3pPr marL="1056041" indent="0">
              <a:buNone/>
              <a:defRPr sz="2772"/>
            </a:lvl3pPr>
            <a:lvl4pPr marL="1584061" indent="0">
              <a:buNone/>
              <a:defRPr sz="2310"/>
            </a:lvl4pPr>
            <a:lvl5pPr marL="2112081" indent="0">
              <a:buNone/>
              <a:defRPr sz="2310"/>
            </a:lvl5pPr>
            <a:lvl6pPr marL="2640101" indent="0">
              <a:buNone/>
              <a:defRPr sz="2310"/>
            </a:lvl6pPr>
            <a:lvl7pPr marL="3168122" indent="0">
              <a:buNone/>
              <a:defRPr sz="2310"/>
            </a:lvl7pPr>
            <a:lvl8pPr marL="3696142" indent="0">
              <a:buNone/>
              <a:defRPr sz="2310"/>
            </a:lvl8pPr>
            <a:lvl9pPr marL="4224162" indent="0">
              <a:buNone/>
              <a:defRPr sz="231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376011"/>
            <a:ext cx="5805682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257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9112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421669"/>
            <a:ext cx="3881393" cy="67118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421669"/>
            <a:ext cx="11419171" cy="6711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3457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421669"/>
            <a:ext cx="15525572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108344"/>
            <a:ext cx="15525572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7340702"/>
            <a:ext cx="4050149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7340702"/>
            <a:ext cx="6075224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7340702"/>
            <a:ext cx="4050149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4721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056041" rtl="0" eaLnBrk="1" latinLnBrk="0" hangingPunct="1">
        <a:lnSpc>
          <a:spcPct val="90000"/>
        </a:lnSpc>
        <a:spcBef>
          <a:spcPct val="0"/>
        </a:spcBef>
        <a:buNone/>
        <a:defRPr sz="50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010" indent="-264010" algn="l" defTabSz="1056041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92030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72" kern="1200">
          <a:solidFill>
            <a:schemeClr val="tx1"/>
          </a:solidFill>
          <a:latin typeface="+mn-lt"/>
          <a:ea typeface="+mn-ea"/>
          <a:cs typeface="+mn-cs"/>
        </a:defRPr>
      </a:lvl2pPr>
      <a:lvl3pPr marL="132005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3pPr>
      <a:lvl4pPr marL="184807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37609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90411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43213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96015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48817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1pPr>
      <a:lvl2pPr marL="52802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105604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3pPr>
      <a:lvl4pPr marL="158406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11208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64010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16812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69614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22416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08885-0B03-8EFC-B69B-39D5E89D000D}"/>
              </a:ext>
            </a:extLst>
          </p:cNvPr>
          <p:cNvSpPr/>
          <p:nvPr/>
        </p:nvSpPr>
        <p:spPr>
          <a:xfrm>
            <a:off x="203915" y="3836241"/>
            <a:ext cx="2710846" cy="112951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8" b="1" dirty="0">
                <a:solidFill>
                  <a:schemeClr val="tx1"/>
                </a:solidFill>
              </a:rPr>
              <a:t>Distributional Green Equity Studies</a:t>
            </a:r>
          </a:p>
          <a:p>
            <a:pPr algn="ctr"/>
            <a:r>
              <a:rPr lang="en-CA" sz="2008" dirty="0">
                <a:solidFill>
                  <a:schemeClr val="tx1"/>
                </a:solidFill>
              </a:rPr>
              <a:t>N = 257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A13A75A-5285-D6FC-425D-5CBEBEF07FF8}"/>
              </a:ext>
            </a:extLst>
          </p:cNvPr>
          <p:cNvGrpSpPr/>
          <p:nvPr/>
        </p:nvGrpSpPr>
        <p:grpSpPr>
          <a:xfrm>
            <a:off x="3433742" y="3088212"/>
            <a:ext cx="2146086" cy="2625577"/>
            <a:chOff x="2808001" y="1874040"/>
            <a:chExt cx="1710000" cy="209205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4472F0C-7831-2D67-FE65-FCE2A0E6D7D2}"/>
                </a:ext>
              </a:extLst>
            </p:cNvPr>
            <p:cNvSpPr/>
            <p:nvPr/>
          </p:nvSpPr>
          <p:spPr>
            <a:xfrm>
              <a:off x="2808001" y="3066098"/>
              <a:ext cx="1710000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8" b="1" dirty="0">
                  <a:solidFill>
                    <a:schemeClr val="tx1"/>
                  </a:solidFill>
                </a:rPr>
                <a:t>Excludes Race</a:t>
              </a:r>
            </a:p>
            <a:p>
              <a:pPr algn="ctr"/>
              <a:r>
                <a:rPr lang="en-CA" sz="2008" dirty="0">
                  <a:solidFill>
                    <a:schemeClr val="tx1"/>
                  </a:solidFill>
                </a:rPr>
                <a:t>n = 31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4AFF6E0-36EE-32CF-0B98-C1F1BEA5D78F}"/>
                </a:ext>
              </a:extLst>
            </p:cNvPr>
            <p:cNvSpPr/>
            <p:nvPr/>
          </p:nvSpPr>
          <p:spPr>
            <a:xfrm>
              <a:off x="2808001" y="1874040"/>
              <a:ext cx="1710000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8" b="1" dirty="0">
                  <a:solidFill>
                    <a:schemeClr val="tx1"/>
                  </a:solidFill>
                </a:rPr>
                <a:t>Includes Race</a:t>
              </a:r>
            </a:p>
            <a:p>
              <a:pPr algn="ctr"/>
              <a:r>
                <a:rPr lang="en-CA" sz="2008" dirty="0">
                  <a:solidFill>
                    <a:schemeClr val="tx1"/>
                  </a:solidFill>
                </a:rPr>
                <a:t>n = 225</a:t>
              </a:r>
            </a:p>
          </p:txBody>
        </p:sp>
      </p:grpSp>
      <p:sp>
        <p:nvSpPr>
          <p:cNvPr id="176" name="Rectangle 175">
            <a:extLst>
              <a:ext uri="{FF2B5EF4-FFF2-40B4-BE49-F238E27FC236}">
                <a16:creationId xmlns:a16="http://schemas.microsoft.com/office/drawing/2014/main" id="{F73D5A26-8459-0A72-17A3-8477BAE8D816}"/>
              </a:ext>
            </a:extLst>
          </p:cNvPr>
          <p:cNvSpPr/>
          <p:nvPr/>
        </p:nvSpPr>
        <p:spPr>
          <a:xfrm>
            <a:off x="249635" y="305755"/>
            <a:ext cx="3473798" cy="13243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3997BA6-99A3-3C14-B306-55095051188E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2914764" y="3652972"/>
            <a:ext cx="518981" cy="7480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BC6B09E-C8FE-0F12-4CA7-6E05FDC02C2D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2914764" y="4401001"/>
            <a:ext cx="518981" cy="7480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80A557D-E3A4-8560-F439-AD51DFE09C04}"/>
              </a:ext>
            </a:extLst>
          </p:cNvPr>
          <p:cNvGrpSpPr/>
          <p:nvPr/>
        </p:nvGrpSpPr>
        <p:grpSpPr>
          <a:xfrm>
            <a:off x="408358" y="466031"/>
            <a:ext cx="3070756" cy="1035533"/>
            <a:chOff x="392872" y="586707"/>
            <a:chExt cx="3070756" cy="103553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2617408-A640-D148-D0A7-C428B08BFDCC}"/>
                </a:ext>
              </a:extLst>
            </p:cNvPr>
            <p:cNvGrpSpPr/>
            <p:nvPr/>
          </p:nvGrpSpPr>
          <p:grpSpPr>
            <a:xfrm>
              <a:off x="392872" y="593624"/>
              <a:ext cx="451807" cy="1028616"/>
              <a:chOff x="5668964" y="4902040"/>
              <a:chExt cx="360000" cy="81960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47ADE53-17C6-9033-C225-EDB6B13654C3}"/>
                  </a:ext>
                </a:extLst>
              </p:cNvPr>
              <p:cNvSpPr/>
              <p:nvPr/>
            </p:nvSpPr>
            <p:spPr>
              <a:xfrm>
                <a:off x="5668964" y="4902040"/>
                <a:ext cx="360000" cy="360000"/>
              </a:xfrm>
              <a:prstGeom prst="ellipse">
                <a:avLst/>
              </a:prstGeom>
              <a:solidFill>
                <a:srgbClr val="FF979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259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3B95B11D-83E0-46A1-528F-2F012E3D1841}"/>
                  </a:ext>
                </a:extLst>
              </p:cNvPr>
              <p:cNvSpPr/>
              <p:nvPr/>
            </p:nvSpPr>
            <p:spPr>
              <a:xfrm>
                <a:off x="5668964" y="5361640"/>
                <a:ext cx="360000" cy="360000"/>
              </a:xfrm>
              <a:prstGeom prst="ellipse">
                <a:avLst/>
              </a:prstGeom>
              <a:solidFill>
                <a:srgbClr val="9FE6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259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924BAF0-5752-8EC4-74C0-C2F4C39B2C3B}"/>
                </a:ext>
              </a:extLst>
            </p:cNvPr>
            <p:cNvSpPr txBox="1"/>
            <p:nvPr/>
          </p:nvSpPr>
          <p:spPr>
            <a:xfrm>
              <a:off x="959437" y="586707"/>
              <a:ext cx="25041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259" b="1" dirty="0"/>
                <a:t>Canadian Studies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2F446F8-F3F5-F631-5AF4-DBA2F6B3FD63}"/>
                </a:ext>
              </a:extLst>
            </p:cNvPr>
            <p:cNvSpPr txBox="1"/>
            <p:nvPr/>
          </p:nvSpPr>
          <p:spPr>
            <a:xfrm>
              <a:off x="959437" y="1144929"/>
              <a:ext cx="25041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259" b="1" dirty="0"/>
                <a:t>US Studies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BEB6CC2-17C6-B78A-10C2-D7A923FB5282}"/>
              </a:ext>
            </a:extLst>
          </p:cNvPr>
          <p:cNvGrpSpPr/>
          <p:nvPr/>
        </p:nvGrpSpPr>
        <p:grpSpPr>
          <a:xfrm rot="5400000">
            <a:off x="3732990" y="5459911"/>
            <a:ext cx="1547597" cy="2055348"/>
            <a:chOff x="5086080" y="5853540"/>
            <a:chExt cx="1233124" cy="1637700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82491B6-7300-1E01-34CF-56E7A9D2F1BC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 rot="16200000" flipH="1" flipV="1">
              <a:off x="5342643" y="6514678"/>
              <a:ext cx="360000" cy="8731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D8B6DCF-3E19-71F7-35AE-C9214BB7A824}"/>
                </a:ext>
              </a:extLst>
            </p:cNvPr>
            <p:cNvCxnSpPr>
              <a:cxnSpLocks/>
              <a:endCxn id="49" idx="6"/>
            </p:cNvCxnSpPr>
            <p:nvPr/>
          </p:nvCxnSpPr>
          <p:spPr>
            <a:xfrm rot="16200000">
              <a:off x="5342642" y="5596979"/>
              <a:ext cx="360000" cy="87312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DCB071B-FE8E-4A2C-02A8-732668BC2580}"/>
                </a:ext>
              </a:extLst>
            </p:cNvPr>
            <p:cNvGrpSpPr/>
            <p:nvPr/>
          </p:nvGrpSpPr>
          <p:grpSpPr>
            <a:xfrm>
              <a:off x="5599204" y="5853540"/>
              <a:ext cx="720000" cy="1637700"/>
              <a:chOff x="5668964" y="5821240"/>
              <a:chExt cx="720000" cy="1637700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BD8A454-9C7A-40DC-AE96-A66A2DF02D89}"/>
                  </a:ext>
                </a:extLst>
              </p:cNvPr>
              <p:cNvSpPr/>
              <p:nvPr/>
            </p:nvSpPr>
            <p:spPr>
              <a:xfrm rot="16200000">
                <a:off x="5668964" y="6738940"/>
                <a:ext cx="720000" cy="720000"/>
              </a:xfrm>
              <a:prstGeom prst="ellipse">
                <a:avLst/>
              </a:prstGeom>
              <a:solidFill>
                <a:srgbClr val="FF979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11</a:t>
                </a: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FDE848C-D6BC-2D9A-CEC8-E6F6EEDDCB7B}"/>
                  </a:ext>
                </a:extLst>
              </p:cNvPr>
              <p:cNvSpPr/>
              <p:nvPr/>
            </p:nvSpPr>
            <p:spPr>
              <a:xfrm rot="16200000">
                <a:off x="5668964" y="5821240"/>
                <a:ext cx="720000" cy="720000"/>
              </a:xfrm>
              <a:prstGeom prst="ellipse">
                <a:avLst/>
              </a:prstGeom>
              <a:solidFill>
                <a:srgbClr val="9FE6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20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DDC982E-DF28-8786-296A-D3764166E704}"/>
              </a:ext>
            </a:extLst>
          </p:cNvPr>
          <p:cNvGrpSpPr/>
          <p:nvPr/>
        </p:nvGrpSpPr>
        <p:grpSpPr>
          <a:xfrm>
            <a:off x="6112216" y="2340184"/>
            <a:ext cx="2803456" cy="2625577"/>
            <a:chOff x="2808001" y="1874040"/>
            <a:chExt cx="2233792" cy="2092058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4AD72D98-7C35-7B64-F929-B5AC795112D5}"/>
                </a:ext>
              </a:extLst>
            </p:cNvPr>
            <p:cNvSpPr/>
            <p:nvPr/>
          </p:nvSpPr>
          <p:spPr>
            <a:xfrm>
              <a:off x="2808001" y="3066098"/>
              <a:ext cx="2233792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8" b="1" dirty="0">
                  <a:solidFill>
                    <a:schemeClr val="tx1"/>
                  </a:solidFill>
                </a:rPr>
                <a:t>Excludes Indigenous Peoples</a:t>
              </a:r>
            </a:p>
            <a:p>
              <a:pPr algn="ctr"/>
              <a:r>
                <a:rPr lang="en-CA" sz="2008" dirty="0">
                  <a:solidFill>
                    <a:schemeClr val="tx1"/>
                  </a:solidFill>
                </a:rPr>
                <a:t>n = 126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755E481C-3464-99AB-B653-116ED4AFEDA3}"/>
                </a:ext>
              </a:extLst>
            </p:cNvPr>
            <p:cNvSpPr/>
            <p:nvPr/>
          </p:nvSpPr>
          <p:spPr>
            <a:xfrm>
              <a:off x="2808001" y="1874040"/>
              <a:ext cx="2233792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8" b="1" dirty="0">
                  <a:solidFill>
                    <a:schemeClr val="tx1"/>
                  </a:solidFill>
                </a:rPr>
                <a:t>Includes Indigenous Peoples</a:t>
              </a:r>
            </a:p>
            <a:p>
              <a:pPr algn="ctr"/>
              <a:r>
                <a:rPr lang="en-CA" sz="2008" dirty="0">
                  <a:solidFill>
                    <a:schemeClr val="tx1"/>
                  </a:solidFill>
                </a:rPr>
                <a:t>n = 99</a:t>
              </a:r>
            </a:p>
          </p:txBody>
        </p: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1FFBA2F-34AA-52D5-336A-5E6B2E060A82}"/>
              </a:ext>
            </a:extLst>
          </p:cNvPr>
          <p:cNvCxnSpPr>
            <a:cxnSpLocks/>
            <a:endCxn id="124" idx="1"/>
          </p:cNvCxnSpPr>
          <p:nvPr/>
        </p:nvCxnSpPr>
        <p:spPr>
          <a:xfrm flipV="1">
            <a:off x="5593239" y="2904943"/>
            <a:ext cx="518981" cy="7480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52585EF-1B7A-1B1B-9F7A-90030D68E303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5593239" y="3652972"/>
            <a:ext cx="518981" cy="7480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60F1465-789B-1F46-BF22-720AF17F38D2}"/>
              </a:ext>
            </a:extLst>
          </p:cNvPr>
          <p:cNvGrpSpPr/>
          <p:nvPr/>
        </p:nvGrpSpPr>
        <p:grpSpPr>
          <a:xfrm rot="5400000">
            <a:off x="6741165" y="4711882"/>
            <a:ext cx="1547597" cy="2055348"/>
            <a:chOff x="5086080" y="5853540"/>
            <a:chExt cx="1233124" cy="1637700"/>
          </a:xfrm>
        </p:grpSpPr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0276A561-A514-16F4-D572-36ED8061D44B}"/>
                </a:ext>
              </a:extLst>
            </p:cNvPr>
            <p:cNvCxnSpPr>
              <a:cxnSpLocks/>
              <a:stCxn id="150" idx="6"/>
            </p:cNvCxnSpPr>
            <p:nvPr/>
          </p:nvCxnSpPr>
          <p:spPr>
            <a:xfrm rot="16200000" flipH="1" flipV="1">
              <a:off x="5342643" y="6514678"/>
              <a:ext cx="360000" cy="87312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F0A466D4-67CC-1C55-CD38-45EE0592023C}"/>
                </a:ext>
              </a:extLst>
            </p:cNvPr>
            <p:cNvCxnSpPr>
              <a:cxnSpLocks/>
              <a:endCxn id="151" idx="6"/>
            </p:cNvCxnSpPr>
            <p:nvPr/>
          </p:nvCxnSpPr>
          <p:spPr>
            <a:xfrm rot="16200000">
              <a:off x="5342642" y="5596979"/>
              <a:ext cx="360000" cy="87312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A236518D-66FF-1F37-03EF-EAFE6EB8C983}"/>
                </a:ext>
              </a:extLst>
            </p:cNvPr>
            <p:cNvGrpSpPr/>
            <p:nvPr/>
          </p:nvGrpSpPr>
          <p:grpSpPr>
            <a:xfrm>
              <a:off x="5599204" y="5853540"/>
              <a:ext cx="720000" cy="1637700"/>
              <a:chOff x="5668964" y="5821240"/>
              <a:chExt cx="720000" cy="1637700"/>
            </a:xfrm>
          </p:grpSpPr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C7A899EE-424F-BB21-E9C5-353B74C61108}"/>
                  </a:ext>
                </a:extLst>
              </p:cNvPr>
              <p:cNvSpPr/>
              <p:nvPr/>
            </p:nvSpPr>
            <p:spPr>
              <a:xfrm rot="16200000">
                <a:off x="5668964" y="6738940"/>
                <a:ext cx="720000" cy="720000"/>
              </a:xfrm>
              <a:prstGeom prst="ellipse">
                <a:avLst/>
              </a:prstGeom>
              <a:solidFill>
                <a:srgbClr val="FF979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DF8DEA5D-2E8D-8DB2-1EF0-F8B93F7AD09F}"/>
                  </a:ext>
                </a:extLst>
              </p:cNvPr>
              <p:cNvSpPr/>
              <p:nvPr/>
            </p:nvSpPr>
            <p:spPr>
              <a:xfrm rot="16200000">
                <a:off x="5668964" y="5821240"/>
                <a:ext cx="720000" cy="720000"/>
              </a:xfrm>
              <a:prstGeom prst="ellipse">
                <a:avLst/>
              </a:prstGeom>
              <a:solidFill>
                <a:srgbClr val="9FE6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000" dirty="0">
                    <a:solidFill>
                      <a:schemeClr val="tx1"/>
                    </a:solidFill>
                  </a:rPr>
                  <a:t>116</a:t>
                </a:r>
              </a:p>
            </p:txBody>
          </p:sp>
        </p:grp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3AC90114-87B9-B8E8-1AA1-743A94E8D036}"/>
              </a:ext>
            </a:extLst>
          </p:cNvPr>
          <p:cNvGrpSpPr/>
          <p:nvPr/>
        </p:nvGrpSpPr>
        <p:grpSpPr>
          <a:xfrm>
            <a:off x="9448062" y="1550738"/>
            <a:ext cx="2803456" cy="2625577"/>
            <a:chOff x="2808001" y="1874040"/>
            <a:chExt cx="2233792" cy="2092058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6F4D879A-4124-44A6-1067-273B8063C7CA}"/>
                </a:ext>
              </a:extLst>
            </p:cNvPr>
            <p:cNvSpPr/>
            <p:nvPr/>
          </p:nvSpPr>
          <p:spPr>
            <a:xfrm>
              <a:off x="2808001" y="3066098"/>
              <a:ext cx="2233792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8" b="1" dirty="0">
                  <a:solidFill>
                    <a:schemeClr val="tx1"/>
                  </a:solidFill>
                </a:rPr>
                <a:t>Independent Indigenous Variable</a:t>
              </a:r>
            </a:p>
            <a:p>
              <a:pPr algn="ctr"/>
              <a:r>
                <a:rPr lang="en-CA" sz="2008" dirty="0">
                  <a:solidFill>
                    <a:schemeClr val="tx1"/>
                  </a:solidFill>
                </a:rPr>
                <a:t>n = 15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0923845-5FBE-57AA-4F7F-9E1A8458EE4E}"/>
                </a:ext>
              </a:extLst>
            </p:cNvPr>
            <p:cNvSpPr/>
            <p:nvPr/>
          </p:nvSpPr>
          <p:spPr>
            <a:xfrm>
              <a:off x="2808001" y="1874040"/>
              <a:ext cx="2233792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8" b="1" dirty="0">
                  <a:solidFill>
                    <a:schemeClr val="tx1"/>
                  </a:solidFill>
                </a:rPr>
                <a:t>Aggregated Inclusion</a:t>
              </a:r>
            </a:p>
            <a:p>
              <a:pPr algn="ctr"/>
              <a:r>
                <a:rPr lang="en-CA" sz="2008" dirty="0">
                  <a:solidFill>
                    <a:schemeClr val="tx1"/>
                  </a:solidFill>
                </a:rPr>
                <a:t>n = 84</a:t>
              </a:r>
            </a:p>
          </p:txBody>
        </p:sp>
      </p:grp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BB260C5C-0754-2965-29E9-D7C35EC7839F}"/>
              </a:ext>
            </a:extLst>
          </p:cNvPr>
          <p:cNvCxnSpPr>
            <a:cxnSpLocks/>
            <a:endCxn id="154" idx="1"/>
          </p:cNvCxnSpPr>
          <p:nvPr/>
        </p:nvCxnSpPr>
        <p:spPr>
          <a:xfrm flipV="1">
            <a:off x="8929083" y="2115498"/>
            <a:ext cx="518981" cy="7480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B2CBF97-647A-D9CE-BCA7-13A4217592AA}"/>
              </a:ext>
            </a:extLst>
          </p:cNvPr>
          <p:cNvCxnSpPr>
            <a:cxnSpLocks/>
            <a:endCxn id="153" idx="1"/>
          </p:cNvCxnSpPr>
          <p:nvPr/>
        </p:nvCxnSpPr>
        <p:spPr>
          <a:xfrm>
            <a:off x="8929083" y="2863527"/>
            <a:ext cx="518981" cy="7480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664C7EEC-2E7A-1F76-0AF0-420B3F3E2E91}"/>
              </a:ext>
            </a:extLst>
          </p:cNvPr>
          <p:cNvGrpSpPr/>
          <p:nvPr/>
        </p:nvGrpSpPr>
        <p:grpSpPr>
          <a:xfrm rot="5400000">
            <a:off x="10077010" y="3938082"/>
            <a:ext cx="1547598" cy="2055348"/>
            <a:chOff x="5086079" y="5853540"/>
            <a:chExt cx="1233125" cy="1637700"/>
          </a:xfrm>
        </p:grpSpPr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DB242BF6-4E4A-6D42-C58C-79450A044B79}"/>
                </a:ext>
              </a:extLst>
            </p:cNvPr>
            <p:cNvCxnSpPr>
              <a:cxnSpLocks/>
              <a:stCxn id="161" idx="6"/>
            </p:cNvCxnSpPr>
            <p:nvPr/>
          </p:nvCxnSpPr>
          <p:spPr>
            <a:xfrm rot="16200000" flipH="1" flipV="1">
              <a:off x="5342642" y="6514678"/>
              <a:ext cx="360000" cy="8731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4E1EBBDD-E566-887C-4CEA-979262798DD8}"/>
                </a:ext>
              </a:extLst>
            </p:cNvPr>
            <p:cNvCxnSpPr>
              <a:cxnSpLocks/>
              <a:endCxn id="162" idx="6"/>
            </p:cNvCxnSpPr>
            <p:nvPr/>
          </p:nvCxnSpPr>
          <p:spPr>
            <a:xfrm rot="16200000">
              <a:off x="5342642" y="5596978"/>
              <a:ext cx="360000" cy="8731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DA4DAEEF-533E-8533-128A-82E1FB3B6224}"/>
                </a:ext>
              </a:extLst>
            </p:cNvPr>
            <p:cNvGrpSpPr/>
            <p:nvPr/>
          </p:nvGrpSpPr>
          <p:grpSpPr>
            <a:xfrm>
              <a:off x="5599204" y="5853540"/>
              <a:ext cx="720000" cy="1637700"/>
              <a:chOff x="5668964" y="5821240"/>
              <a:chExt cx="720000" cy="16377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24A2235A-4B7A-1CCC-4EE1-E8FD4CDC1291}"/>
                  </a:ext>
                </a:extLst>
              </p:cNvPr>
              <p:cNvSpPr/>
              <p:nvPr/>
            </p:nvSpPr>
            <p:spPr>
              <a:xfrm rot="16200000">
                <a:off x="5668964" y="6738940"/>
                <a:ext cx="720000" cy="720000"/>
              </a:xfrm>
              <a:prstGeom prst="ellipse">
                <a:avLst/>
              </a:prstGeom>
              <a:solidFill>
                <a:srgbClr val="FF979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D292BB9C-EEF9-E6F1-3E0C-568F00C2CB00}"/>
                  </a:ext>
                </a:extLst>
              </p:cNvPr>
              <p:cNvSpPr/>
              <p:nvPr/>
            </p:nvSpPr>
            <p:spPr>
              <a:xfrm rot="16200000">
                <a:off x="5668964" y="5821240"/>
                <a:ext cx="720000" cy="720000"/>
              </a:xfrm>
              <a:prstGeom prst="ellipse">
                <a:avLst/>
              </a:prstGeom>
              <a:solidFill>
                <a:srgbClr val="9FE6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CE0CF46E-9A43-F539-112E-6F01D682894F}"/>
              </a:ext>
            </a:extLst>
          </p:cNvPr>
          <p:cNvGrpSpPr/>
          <p:nvPr/>
        </p:nvGrpSpPr>
        <p:grpSpPr>
          <a:xfrm>
            <a:off x="12783907" y="802708"/>
            <a:ext cx="2803456" cy="2625577"/>
            <a:chOff x="2808001" y="1874040"/>
            <a:chExt cx="2233792" cy="2092058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9EF8645D-DAC2-D9D3-76AA-13FAE8853C08}"/>
                </a:ext>
              </a:extLst>
            </p:cNvPr>
            <p:cNvSpPr/>
            <p:nvPr/>
          </p:nvSpPr>
          <p:spPr>
            <a:xfrm>
              <a:off x="2808001" y="3066098"/>
              <a:ext cx="2233792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8" b="1" dirty="0">
                  <a:solidFill>
                    <a:schemeClr val="tx1"/>
                  </a:solidFill>
                </a:rPr>
                <a:t>Multivariate Index</a:t>
              </a:r>
            </a:p>
            <a:p>
              <a:pPr algn="ctr"/>
              <a:r>
                <a:rPr lang="en-CA" sz="2008" dirty="0">
                  <a:solidFill>
                    <a:schemeClr val="tx1"/>
                  </a:solidFill>
                </a:rPr>
                <a:t>n = 14</a:t>
              </a: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0DEACAED-FF78-1D1A-BC60-C015B12C7508}"/>
                </a:ext>
              </a:extLst>
            </p:cNvPr>
            <p:cNvSpPr/>
            <p:nvPr/>
          </p:nvSpPr>
          <p:spPr>
            <a:xfrm>
              <a:off x="2808001" y="1874040"/>
              <a:ext cx="2233792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8" b="1" dirty="0">
                  <a:solidFill>
                    <a:schemeClr val="tx1"/>
                  </a:solidFill>
                </a:rPr>
                <a:t>Multiple Races Category</a:t>
              </a:r>
            </a:p>
            <a:p>
              <a:pPr algn="ctr"/>
              <a:r>
                <a:rPr lang="en-CA" sz="2008" dirty="0">
                  <a:solidFill>
                    <a:schemeClr val="tx1"/>
                  </a:solidFill>
                </a:rPr>
                <a:t>n = 70</a:t>
              </a:r>
            </a:p>
          </p:txBody>
        </p:sp>
      </p:grp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BC434F2C-3007-E4B0-99E5-1613ED2C5138}"/>
              </a:ext>
            </a:extLst>
          </p:cNvPr>
          <p:cNvCxnSpPr>
            <a:cxnSpLocks/>
            <a:endCxn id="166" idx="1"/>
          </p:cNvCxnSpPr>
          <p:nvPr/>
        </p:nvCxnSpPr>
        <p:spPr>
          <a:xfrm flipV="1">
            <a:off x="12264929" y="1367469"/>
            <a:ext cx="518981" cy="7480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D88219D1-6A5A-EA47-63F7-011312471F35}"/>
              </a:ext>
            </a:extLst>
          </p:cNvPr>
          <p:cNvCxnSpPr>
            <a:cxnSpLocks/>
            <a:endCxn id="165" idx="1"/>
          </p:cNvCxnSpPr>
          <p:nvPr/>
        </p:nvCxnSpPr>
        <p:spPr>
          <a:xfrm>
            <a:off x="12264929" y="2115498"/>
            <a:ext cx="518981" cy="7480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E9CEA87-3525-91F9-D707-E6283DC3DA3C}"/>
              </a:ext>
            </a:extLst>
          </p:cNvPr>
          <p:cNvGrpSpPr/>
          <p:nvPr/>
        </p:nvGrpSpPr>
        <p:grpSpPr>
          <a:xfrm rot="5400000">
            <a:off x="13412856" y="3190057"/>
            <a:ext cx="1547598" cy="2055348"/>
            <a:chOff x="5086079" y="5853540"/>
            <a:chExt cx="1233125" cy="1637700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1C720393-06A0-05B2-A10E-F9AA6A0F30FE}"/>
                </a:ext>
              </a:extLst>
            </p:cNvPr>
            <p:cNvCxnSpPr>
              <a:cxnSpLocks/>
              <a:stCxn id="173" idx="6"/>
            </p:cNvCxnSpPr>
            <p:nvPr/>
          </p:nvCxnSpPr>
          <p:spPr>
            <a:xfrm rot="16200000" flipH="1" flipV="1">
              <a:off x="5342642" y="6514678"/>
              <a:ext cx="360000" cy="8731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AF074A84-5BAF-54A5-FB60-BC38AA39403C}"/>
                </a:ext>
              </a:extLst>
            </p:cNvPr>
            <p:cNvCxnSpPr>
              <a:cxnSpLocks/>
              <a:endCxn id="174" idx="6"/>
            </p:cNvCxnSpPr>
            <p:nvPr/>
          </p:nvCxnSpPr>
          <p:spPr>
            <a:xfrm rot="16200000">
              <a:off x="5342642" y="5596978"/>
              <a:ext cx="360000" cy="8731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53161B6B-6058-32B2-EE0B-7845B20C8379}"/>
                </a:ext>
              </a:extLst>
            </p:cNvPr>
            <p:cNvGrpSpPr/>
            <p:nvPr/>
          </p:nvGrpSpPr>
          <p:grpSpPr>
            <a:xfrm>
              <a:off x="5599204" y="5853540"/>
              <a:ext cx="720000" cy="1637700"/>
              <a:chOff x="5668964" y="5821240"/>
              <a:chExt cx="720000" cy="1637700"/>
            </a:xfrm>
          </p:grpSpPr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A819C868-D99F-FF42-E2A7-E29C58461DB4}"/>
                  </a:ext>
                </a:extLst>
              </p:cNvPr>
              <p:cNvSpPr/>
              <p:nvPr/>
            </p:nvSpPr>
            <p:spPr>
              <a:xfrm rot="16200000">
                <a:off x="5668964" y="6738940"/>
                <a:ext cx="720000" cy="720000"/>
              </a:xfrm>
              <a:prstGeom prst="ellipse">
                <a:avLst/>
              </a:prstGeom>
              <a:solidFill>
                <a:srgbClr val="FF979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9E653F9D-9966-187C-6A5B-E1CE96B87646}"/>
                  </a:ext>
                </a:extLst>
              </p:cNvPr>
              <p:cNvSpPr/>
              <p:nvPr/>
            </p:nvSpPr>
            <p:spPr>
              <a:xfrm rot="16200000">
                <a:off x="5668964" y="5821240"/>
                <a:ext cx="720000" cy="720000"/>
              </a:xfrm>
              <a:prstGeom prst="ellipse">
                <a:avLst/>
              </a:prstGeom>
              <a:solidFill>
                <a:srgbClr val="9FE6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8B7B7314-3072-57AE-F979-0B09F5C4AFB8}"/>
              </a:ext>
            </a:extLst>
          </p:cNvPr>
          <p:cNvGrpSpPr/>
          <p:nvPr/>
        </p:nvGrpSpPr>
        <p:grpSpPr>
          <a:xfrm rot="10800000">
            <a:off x="15587362" y="339046"/>
            <a:ext cx="1568186" cy="2055346"/>
            <a:chOff x="5599205" y="5853540"/>
            <a:chExt cx="1249528" cy="1637699"/>
          </a:xfrm>
        </p:grpSpPr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3D8A0489-E85C-97E8-E617-2B4683483E93}"/>
                </a:ext>
              </a:extLst>
            </p:cNvPr>
            <p:cNvCxnSpPr>
              <a:cxnSpLocks/>
              <a:stCxn id="181" idx="2"/>
              <a:endCxn id="166" idx="3"/>
            </p:cNvCxnSpPr>
            <p:nvPr/>
          </p:nvCxnSpPr>
          <p:spPr>
            <a:xfrm rot="10800000" flipH="1">
              <a:off x="6319205" y="6671793"/>
              <a:ext cx="529527" cy="45944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82FDF7F2-DCBA-471B-A429-D6993F3EA60A}"/>
                </a:ext>
              </a:extLst>
            </p:cNvPr>
            <p:cNvCxnSpPr>
              <a:cxnSpLocks/>
              <a:stCxn id="166" idx="3"/>
              <a:endCxn id="182" idx="2"/>
            </p:cNvCxnSpPr>
            <p:nvPr/>
          </p:nvCxnSpPr>
          <p:spPr>
            <a:xfrm rot="10800000">
              <a:off x="6319205" y="6213539"/>
              <a:ext cx="529528" cy="45825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FA007217-6F09-B8AE-4479-7D9F364B6225}"/>
                </a:ext>
              </a:extLst>
            </p:cNvPr>
            <p:cNvGrpSpPr/>
            <p:nvPr/>
          </p:nvGrpSpPr>
          <p:grpSpPr>
            <a:xfrm>
              <a:off x="5599205" y="5853540"/>
              <a:ext cx="720000" cy="1637699"/>
              <a:chOff x="5668965" y="5821240"/>
              <a:chExt cx="720000" cy="1637699"/>
            </a:xfrm>
          </p:grpSpPr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3D8B184F-AEF8-89A5-6A58-FE87D29B8BFA}"/>
                  </a:ext>
                </a:extLst>
              </p:cNvPr>
              <p:cNvSpPr/>
              <p:nvPr/>
            </p:nvSpPr>
            <p:spPr>
              <a:xfrm rot="10800000">
                <a:off x="5668965" y="6738939"/>
                <a:ext cx="720000" cy="720000"/>
              </a:xfrm>
              <a:prstGeom prst="ellipse">
                <a:avLst/>
              </a:prstGeom>
              <a:solidFill>
                <a:srgbClr val="FF979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70F87463-AFD3-4C8E-6718-04FDA8D54CDA}"/>
                  </a:ext>
                </a:extLst>
              </p:cNvPr>
              <p:cNvSpPr/>
              <p:nvPr/>
            </p:nvSpPr>
            <p:spPr>
              <a:xfrm rot="10800000">
                <a:off x="5668965" y="5821240"/>
                <a:ext cx="720000" cy="720000"/>
              </a:xfrm>
              <a:prstGeom prst="ellipse">
                <a:avLst/>
              </a:prstGeom>
              <a:solidFill>
                <a:srgbClr val="9FE6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69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6189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</TotalTime>
  <Words>65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Martin</dc:creator>
  <cp:lastModifiedBy>Alexander Martin</cp:lastModifiedBy>
  <cp:revision>10</cp:revision>
  <dcterms:created xsi:type="dcterms:W3CDTF">2026-02-04T02:22:35Z</dcterms:created>
  <dcterms:modified xsi:type="dcterms:W3CDTF">2026-02-04T14:46:43Z</dcterms:modified>
</cp:coreProperties>
</file>